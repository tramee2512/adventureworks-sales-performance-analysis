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91" r:id="rId6"/>
    <p:sldId id="421" r:id="rId7"/>
    <p:sldId id="428" r:id="rId8"/>
    <p:sldId id="427" r:id="rId9"/>
    <p:sldId id="430" r:id="rId10"/>
    <p:sldId id="438" r:id="rId11"/>
    <p:sldId id="415" r:id="rId12"/>
    <p:sldId id="432" r:id="rId13"/>
    <p:sldId id="439" r:id="rId14"/>
    <p:sldId id="440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240" autoAdjust="0"/>
  </p:normalViewPr>
  <p:slideViewPr>
    <p:cSldViewPr snapToGrid="0">
      <p:cViewPr varScale="1">
        <p:scale>
          <a:sx n="69" d="100"/>
          <a:sy n="69" d="100"/>
        </p:scale>
        <p:origin x="524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300" b="0" i="0" u="none" strike="noStrike" baseline="0" dirty="0">
                <a:solidFill>
                  <a:schemeClr val="bg2">
                    <a:lumMod val="10000"/>
                  </a:schemeClr>
                </a:solidFill>
              </a:rPr>
              <a:t>Yearly Total Sales: US vs Other Markets</a:t>
            </a:r>
            <a:endParaRPr lang="en-AU" sz="1300" dirty="0">
              <a:solidFill>
                <a:schemeClr val="bg2">
                  <a:lumMod val="1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country_name'!$A$14</c:f>
              <c:strCache>
                <c:ptCount val="1"/>
                <c:pt idx="0">
                  <c:v>Other countries</c:v>
                </c:pt>
              </c:strCache>
            </c:strRef>
          </c:tx>
          <c:spPr>
            <a:solidFill>
              <a:srgbClr val="F9C000"/>
            </a:solidFill>
            <a:ln>
              <a:noFill/>
            </a:ln>
            <a:effectLst/>
          </c:spPr>
          <c:invertIfNegative val="0"/>
          <c:dLbls>
            <c:numFmt formatCode="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'Revenue by country_name'!$B$13:$E$13</c:f>
              <c:numCache>
                <c:formatCode>General</c:formatCode>
                <c:ptCount val="4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</c:numCache>
            </c:numRef>
          </c:cat>
          <c:val>
            <c:numRef>
              <c:f>'Revenue by country_name'!$B$14:$E$14</c:f>
              <c:numCache>
                <c:formatCode>#,##0.00</c:formatCode>
                <c:ptCount val="4"/>
                <c:pt idx="0">
                  <c:v>3679183.66</c:v>
                </c:pt>
                <c:pt idx="1">
                  <c:v>10925527.119999999</c:v>
                </c:pt>
                <c:pt idx="2">
                  <c:v>19101408.329999998</c:v>
                </c:pt>
                <c:pt idx="3">
                  <c:v>13142671.58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3E-402B-96B1-86E4C824BA81}"/>
            </c:ext>
          </c:extLst>
        </c:ser>
        <c:ser>
          <c:idx val="1"/>
          <c:order val="1"/>
          <c:tx>
            <c:strRef>
              <c:f>'Revenue by country_name'!$A$15</c:f>
              <c:strCache>
                <c:ptCount val="1"/>
                <c:pt idx="0">
                  <c:v>United States</c:v>
                </c:pt>
              </c:strCache>
            </c:strRef>
          </c:tx>
          <c:spPr>
            <a:solidFill>
              <a:srgbClr val="387E90"/>
            </a:solidFill>
            <a:ln>
              <a:noFill/>
            </a:ln>
            <a:effectLst/>
          </c:spPr>
          <c:invertIfNegative val="0"/>
          <c:dLbls>
            <c:numFmt formatCode="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'Revenue by country_name'!$B$13:$E$13</c:f>
              <c:numCache>
                <c:formatCode>General</c:formatCode>
                <c:ptCount val="4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</c:numCache>
            </c:numRef>
          </c:cat>
          <c:val>
            <c:numRef>
              <c:f>'Revenue by country_name'!$B$15:$E$15</c:f>
              <c:numCache>
                <c:formatCode>#,##0.00</c:formatCode>
                <c:ptCount val="4"/>
                <c:pt idx="0">
                  <c:v>7652625.2999999998</c:v>
                </c:pt>
                <c:pt idx="1">
                  <c:v>19749246.050000001</c:v>
                </c:pt>
                <c:pt idx="2">
                  <c:v>22909628.829999998</c:v>
                </c:pt>
                <c:pt idx="3">
                  <c:v>12686090.52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3E-402B-96B1-86E4C824BA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6053007"/>
        <c:axId val="126043887"/>
      </c:barChart>
      <c:catAx>
        <c:axId val="126053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43887"/>
        <c:crosses val="autoZero"/>
        <c:auto val="1"/>
        <c:lblAlgn val="ctr"/>
        <c:lblOffset val="100"/>
        <c:noMultiLvlLbl val="0"/>
      </c:catAx>
      <c:valAx>
        <c:axId val="12604388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&quot;M&quot;" sourceLinked="0"/>
        <c:majorTickMark val="none"/>
        <c:minorTickMark val="none"/>
        <c:tickLblPos val="nextTo"/>
        <c:spPr>
          <a:noFill/>
          <a:ln>
            <a:solidFill>
              <a:srgbClr val="FFFFFF">
                <a:lumMod val="85000"/>
              </a:srgb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053007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300" b="0" i="0" u="none" strike="noStrike" kern="1200" spc="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sz="1300" dirty="0">
                <a:solidFill>
                  <a:schemeClr val="bg2">
                    <a:lumMod val="10000"/>
                  </a:schemeClr>
                </a:solidFill>
              </a:rPr>
              <a:t>R</a:t>
            </a:r>
            <a:r>
              <a:rPr lang="en-AU" sz="1300" baseline="0" dirty="0">
                <a:solidFill>
                  <a:schemeClr val="bg2">
                    <a:lumMod val="10000"/>
                  </a:schemeClr>
                </a:solidFill>
              </a:rPr>
              <a:t>e</a:t>
            </a:r>
            <a:r>
              <a:rPr lang="en-AU" sz="1300" dirty="0">
                <a:solidFill>
                  <a:schemeClr val="bg2">
                    <a:lumMod val="10000"/>
                  </a:schemeClr>
                </a:solidFill>
              </a:rPr>
              <a:t>venu</a:t>
            </a:r>
            <a:r>
              <a:rPr lang="en-AU" sz="1300" baseline="0" dirty="0">
                <a:solidFill>
                  <a:schemeClr val="bg2">
                    <a:lumMod val="10000"/>
                  </a:schemeClr>
                </a:solidFill>
              </a:rPr>
              <a:t>e by Countries</a:t>
            </a:r>
            <a:endParaRPr lang="en-AU" sz="1300" dirty="0">
              <a:solidFill>
                <a:schemeClr val="bg2">
                  <a:lumMod val="1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spc="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387E90"/>
            </a:solidFill>
            <a:ln>
              <a:noFill/>
            </a:ln>
            <a:effectLst/>
          </c:spPr>
          <c:invertIfNegative val="0"/>
          <c:dLbls>
            <c:numFmt formatCode="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by country_name'!$A$18:$A$23</c:f>
              <c:strCache>
                <c:ptCount val="6"/>
                <c:pt idx="0">
                  <c:v>Germany</c:v>
                </c:pt>
                <c:pt idx="1">
                  <c:v>France</c:v>
                </c:pt>
                <c:pt idx="2">
                  <c:v>UK</c:v>
                </c:pt>
                <c:pt idx="3">
                  <c:v>Australia</c:v>
                </c:pt>
                <c:pt idx="4">
                  <c:v>Canada</c:v>
                </c:pt>
                <c:pt idx="5">
                  <c:v>United States</c:v>
                </c:pt>
              </c:strCache>
            </c:strRef>
          </c:cat>
          <c:val>
            <c:numRef>
              <c:f>'Revenue by country_name'!$B$18:$B$23</c:f>
              <c:numCache>
                <c:formatCode>#,##0.00</c:formatCode>
                <c:ptCount val="6"/>
                <c:pt idx="0">
                  <c:v>4915407.5999999996</c:v>
                </c:pt>
                <c:pt idx="1">
                  <c:v>7251555.6500000004</c:v>
                </c:pt>
                <c:pt idx="2">
                  <c:v>7670721.04</c:v>
                </c:pt>
                <c:pt idx="3">
                  <c:v>10655335.960000001</c:v>
                </c:pt>
                <c:pt idx="4">
                  <c:v>16355770.449999999</c:v>
                </c:pt>
                <c:pt idx="5">
                  <c:v>62997590.710000001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59-4486-82FF-8C3B0FE00B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21305935"/>
        <c:axId val="221289615"/>
      </c:barChart>
      <c:catAx>
        <c:axId val="2213059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1289615"/>
        <c:crosses val="autoZero"/>
        <c:auto val="1"/>
        <c:lblAlgn val="ctr"/>
        <c:lblOffset val="100"/>
        <c:noMultiLvlLbl val="0"/>
      </c:catAx>
      <c:valAx>
        <c:axId val="221289615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&quot;M&quot;" sourceLinked="0"/>
        <c:majorTickMark val="none"/>
        <c:minorTickMark val="none"/>
        <c:tickLblPos val="nextTo"/>
        <c:spPr>
          <a:noFill/>
          <a:ln>
            <a:solidFill>
              <a:srgbClr val="FFFFFF">
                <a:lumMod val="85000"/>
              </a:srgb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1305935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12/30/2024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12/30/2024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C93B-CB77-EF86-8B39-026B314F1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28B33-3F27-785C-B6A6-B386D75BC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03C37-EC5E-5FD3-3426-B77838D87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Seasonal trends can be leveraged to plan marketing and inventory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46D43-F052-4787-32B2-A1CAE0DD5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660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3213-1C70-58F0-82C3-019EC32FB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5ECC4-5D05-4A8E-A78E-1FD89DB40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B878B-4146-3312-1D3D-F74D80DAD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9FC96-C0AC-6034-5537-43AE1E834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34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29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380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02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94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398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411" y="411479"/>
            <a:ext cx="8196893" cy="329184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4800" dirty="0"/>
              <a:t>Sales Performance Analysis (July 2001 – July 2004)</a:t>
            </a:r>
            <a:br>
              <a:rPr lang="en-US" sz="4800" dirty="0"/>
            </a:br>
            <a:r>
              <a:rPr lang="en-US" sz="3600" b="0" dirty="0"/>
              <a:t>Insights, Opportunities and Actions</a:t>
            </a:r>
            <a:endParaRPr lang="en-US" sz="4800" b="0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sz="4000" dirty="0">
                <a:latin typeface="+mn-lt"/>
              </a:rPr>
              <a:t>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34387" y="2341676"/>
            <a:ext cx="8535577" cy="426714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This data analysis aims to answer the strategic question “How do we increase sales, improve profitability, and enhance customer retention while addressing seasonal fluctuations and underperforming markets?”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Identifying high-performing products, markets, and sales strategies.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Addressing challenges such as seasonal fluctuation and variability in Sales team’s performance.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Deliver actionable recommendations to drive consistent growth and profitability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A2ED-6E0C-1BC1-F7EA-28B922076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EFB3-24CC-20D2-405F-9A1CBBA9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How Do Our Sales Vary Throughout the Year?</a:t>
            </a:r>
            <a:endParaRPr lang="en-AU" sz="28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84305-9CF6-A1B3-0E17-F1A08FF44500}"/>
              </a:ext>
            </a:extLst>
          </p:cNvPr>
          <p:cNvSpPr txBox="1"/>
          <p:nvPr/>
        </p:nvSpPr>
        <p:spPr>
          <a:xfrm>
            <a:off x="7296770" y="2692404"/>
            <a:ext cx="3879229" cy="33913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sz="1500" dirty="0"/>
              <a:t>Consistent peaks in revenue in summer and holiday period </a:t>
            </a:r>
          </a:p>
          <a:p>
            <a:r>
              <a:rPr lang="en-US" sz="1500" dirty="0"/>
              <a:t>Early-year dips highlight the need to boost demand during slower seasons</a:t>
            </a:r>
          </a:p>
          <a:p>
            <a:endParaRPr lang="en-US" sz="1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500" dirty="0"/>
              <a:t>Recommendations:</a:t>
            </a:r>
          </a:p>
          <a:p>
            <a:r>
              <a:rPr lang="en-US" sz="1500" dirty="0"/>
              <a:t>Launch pre-holiday campaigns to capture early shoppers.</a:t>
            </a:r>
          </a:p>
          <a:p>
            <a:r>
              <a:rPr lang="en-US" sz="1500" dirty="0"/>
              <a:t>Provide personalized offers for high-value customer segments during off-peak times.</a:t>
            </a:r>
          </a:p>
          <a:p>
            <a:endParaRPr lang="en-AU" sz="1500" dirty="0"/>
          </a:p>
          <a:p>
            <a:endParaRPr lang="en-AU" sz="1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B83D11-A4CB-ADF9-14CD-463F1E8CE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13158"/>
            <a:ext cx="6441305" cy="34643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D337251-DA90-6DD8-726B-E2D8CB9D981D}"/>
              </a:ext>
            </a:extLst>
          </p:cNvPr>
          <p:cNvSpPr txBox="1"/>
          <p:nvPr/>
        </p:nvSpPr>
        <p:spPr>
          <a:xfrm>
            <a:off x="3549784" y="2933332"/>
            <a:ext cx="1040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/>
              <a:t>Highest sales recorded $5.36M</a:t>
            </a:r>
          </a:p>
        </p:txBody>
      </p:sp>
    </p:spTree>
    <p:extLst>
      <p:ext uri="{BB962C8B-B14F-4D97-AF65-F5344CB8AC3E}">
        <p14:creationId xmlns:p14="http://schemas.microsoft.com/office/powerpoint/2010/main" val="633493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1DA2-67A8-255E-45C0-C7663766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8F62-000C-D2F0-D3ED-439775E6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868680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Which Countries Are Our Key Markets?</a:t>
            </a:r>
            <a:endParaRPr lang="en-AU" sz="28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884F1-711B-2F22-2130-9DC697F85FC4}"/>
              </a:ext>
            </a:extLst>
          </p:cNvPr>
          <p:cNvSpPr txBox="1"/>
          <p:nvPr/>
        </p:nvSpPr>
        <p:spPr>
          <a:xfrm>
            <a:off x="594360" y="2357501"/>
            <a:ext cx="112196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 was the key market (account for over 50% of the total revenue)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Other countries have shown substantial growth over time. 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</a:t>
            </a:r>
            <a:endParaRPr lang="en-AU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U" sz="1400" dirty="0">
                <a:solidFill>
                  <a:schemeClr val="bg1"/>
                </a:solidFill>
              </a:rPr>
              <a:t>Recommendations: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</a:rPr>
              <a:t>Develop localized marketing campaigns to drive higher customer acquisition.</a:t>
            </a:r>
            <a:endParaRPr lang="en-AU" sz="1400" dirty="0">
              <a:solidFill>
                <a:schemeClr val="bg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D6AFB5-0736-98E9-56D2-895DE10912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4128010"/>
              </p:ext>
            </p:extLst>
          </p:nvPr>
        </p:nvGraphicFramePr>
        <p:xfrm>
          <a:off x="5936395" y="3805769"/>
          <a:ext cx="5774575" cy="2767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6B87E8F-CA62-6517-0909-5C1F8F337D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2039586"/>
              </p:ext>
            </p:extLst>
          </p:nvPr>
        </p:nvGraphicFramePr>
        <p:xfrm>
          <a:off x="404145" y="3805768"/>
          <a:ext cx="5194585" cy="2767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92393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4A2D3F-A133-7FB5-91CF-B1F141C6B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540" y="2703528"/>
            <a:ext cx="5915980" cy="34105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8D1D3B-935E-34EA-E12F-43C7EC6E3A9A}"/>
              </a:ext>
            </a:extLst>
          </p:cNvPr>
          <p:cNvSpPr txBox="1"/>
          <p:nvPr/>
        </p:nvSpPr>
        <p:spPr>
          <a:xfrm>
            <a:off x="594360" y="2703528"/>
            <a:ext cx="4133088" cy="311431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z="1500" dirty="0"/>
              <a:t>Bikes lead in quantity, followed by Components</a:t>
            </a:r>
          </a:p>
          <a:p>
            <a:r>
              <a:rPr lang="en-US" sz="1500" dirty="0"/>
              <a:t>Remarkable growth in Accessories suggests increasing customer interest in complementary products</a:t>
            </a:r>
          </a:p>
          <a:p>
            <a:pPr marL="0" indent="0">
              <a:buNone/>
            </a:pPr>
            <a:endParaRPr lang="en-US" sz="1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500" dirty="0"/>
              <a:t>Recommendations: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Expand the product line in Accessories and Clothing to capture additional demand.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500" dirty="0"/>
              <a:t>Leverage cross-sell opportunities between Bike and Components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30BC1B-166A-1026-B3F8-B170FE5D7E75}"/>
              </a:ext>
            </a:extLst>
          </p:cNvPr>
          <p:cNvSpPr txBox="1">
            <a:spLocks/>
          </p:cNvSpPr>
          <p:nvPr/>
        </p:nvSpPr>
        <p:spPr>
          <a:xfrm>
            <a:off x="594360" y="198408"/>
            <a:ext cx="6803136" cy="157431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>
                <a:latin typeface="+mn-lt"/>
              </a:rPr>
              <a:t>What Are Our Best-Selling Products?</a:t>
            </a:r>
            <a:endParaRPr lang="en-AU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3429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CFD2-4DCE-A1B7-4577-E22C14C2B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6803136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What Are Our Best-Selling Products?</a:t>
            </a:r>
            <a:endParaRPr lang="en-AU" sz="2800" dirty="0"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CC5BB7-D7A2-05F6-B505-56A14F2D2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24286"/>
            <a:ext cx="5875620" cy="39953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B3158E-470B-C4D6-1904-89E7E375167C}"/>
              </a:ext>
            </a:extLst>
          </p:cNvPr>
          <p:cNvSpPr txBox="1"/>
          <p:nvPr/>
        </p:nvSpPr>
        <p:spPr>
          <a:xfrm>
            <a:off x="6949439" y="2524286"/>
            <a:ext cx="3958705" cy="3428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Road Bikes and Mountain Bikes dominate sales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Mountain-200 Black model is the key revenue generator.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bg1"/>
                </a:solidFill>
              </a:rPr>
              <a:t>Recommendations: </a:t>
            </a:r>
          </a:p>
          <a:p>
            <a:pPr marL="285750" indent="-28575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bg1"/>
                </a:solidFill>
              </a:rPr>
              <a:t>Focus on marketing and improving stock levels for top-selling products to sustain their strong performance.</a:t>
            </a:r>
          </a:p>
          <a:p>
            <a:pPr marL="285750" indent="-28575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bg1"/>
                </a:solidFill>
              </a:rPr>
              <a:t>Develop similar products to the top performers, targeting gaps in customer preferences.</a:t>
            </a:r>
            <a:endParaRPr lang="en-AU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26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CFD35-EC3B-E446-B22B-D761E50F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8492490" cy="15743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AU" sz="2800" dirty="0">
                <a:latin typeface="+mn-lt"/>
              </a:rPr>
              <a:t>Are We Leveraging All Sales Channels Effectively?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06E6DC-7E11-8A2E-71BB-9EDF8789F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701" y="4387469"/>
            <a:ext cx="3575985" cy="21711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688B46-6505-DDD2-7ED6-D13F1ACF1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20" y="4387276"/>
            <a:ext cx="3608533" cy="21711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F51126-51C0-BF01-1D17-928769BE9842}"/>
              </a:ext>
            </a:extLst>
          </p:cNvPr>
          <p:cNvSpPr txBox="1"/>
          <p:nvPr/>
        </p:nvSpPr>
        <p:spPr>
          <a:xfrm>
            <a:off x="594360" y="2418303"/>
            <a:ext cx="11597640" cy="1729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z="1500" dirty="0"/>
              <a:t>Offline sales channels are the dominant source of revenue generation </a:t>
            </a:r>
          </a:p>
          <a:p>
            <a:r>
              <a:rPr lang="en-US" sz="1500" dirty="0"/>
              <a:t>Online sales represent an untapped growth area</a:t>
            </a:r>
          </a:p>
          <a:p>
            <a:endParaRPr lang="en-US" sz="15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500" dirty="0"/>
              <a:t>Recommendations:</a:t>
            </a:r>
          </a:p>
          <a:p>
            <a:r>
              <a:rPr lang="en-US" sz="1500" dirty="0"/>
              <a:t>Retain the high-value offline customer base by offering loyalty programs or exclusive in-store experiences.</a:t>
            </a:r>
          </a:p>
          <a:p>
            <a:r>
              <a:rPr lang="en-AU" sz="1500" dirty="0"/>
              <a:t>Expand digital channels and e-commerce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55710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8ECD-9441-DD69-ED9C-4D94B2B4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+mn-lt"/>
              </a:rPr>
              <a:t>Who Drives the Most Sales?</a:t>
            </a:r>
            <a:endParaRPr lang="en-AU" sz="28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C4448-1717-0324-F6EB-A84B2A09C59D}"/>
              </a:ext>
            </a:extLst>
          </p:cNvPr>
          <p:cNvSpPr txBox="1"/>
          <p:nvPr/>
        </p:nvSpPr>
        <p:spPr>
          <a:xfrm>
            <a:off x="659015" y="2802272"/>
            <a:ext cx="3015540" cy="291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Top 5 salesperson contribute to 56% of total offline sales, </a:t>
            </a:r>
            <a:r>
              <a:rPr lang="en-US" sz="1400" dirty="0">
                <a:solidFill>
                  <a:schemeClr val="bg1"/>
                </a:solidFill>
              </a:rPr>
              <a:t>indicating heavy reliance on a few key performers.</a:t>
            </a:r>
          </a:p>
          <a:p>
            <a:pPr>
              <a:lnSpc>
                <a:spcPct val="12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1"/>
                </a:solidFill>
              </a:rPr>
              <a:t>Recommendations: </a:t>
            </a:r>
          </a:p>
          <a:p>
            <a:pPr marL="285750" indent="-28575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</a:rPr>
              <a:t>Conduct training sessions to share best practices from top salespeople across the team.</a:t>
            </a:r>
          </a:p>
          <a:p>
            <a:pPr marL="285750" indent="-28575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bg1"/>
                </a:solidFill>
              </a:rPr>
              <a:t>Reward top contributors to sustain motivation.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8F66F9-5D6E-8D2D-6318-A31BC7FD0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147" y="2802272"/>
            <a:ext cx="7265931" cy="34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51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F0F78-1AEB-C7B3-98CF-2A64BF00B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C829-CD09-00C6-B1DC-F31917308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sz="2800" dirty="0">
                <a:latin typeface="+mn-lt"/>
              </a:rPr>
              <a:t>What Are Our Key Business Metrics?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69F226-5E8C-5A04-436A-20091A24FCB4}"/>
              </a:ext>
            </a:extLst>
          </p:cNvPr>
          <p:cNvGrpSpPr/>
          <p:nvPr/>
        </p:nvGrpSpPr>
        <p:grpSpPr>
          <a:xfrm>
            <a:off x="594177" y="2929746"/>
            <a:ext cx="2394000" cy="1193187"/>
            <a:chOff x="407002" y="2924675"/>
            <a:chExt cx="2394000" cy="119318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5F146A-AA88-5FFC-E589-AEE21F2287E7}"/>
                </a:ext>
              </a:extLst>
            </p:cNvPr>
            <p:cNvSpPr/>
            <p:nvPr/>
          </p:nvSpPr>
          <p:spPr>
            <a:xfrm>
              <a:off x="407002" y="2924675"/>
              <a:ext cx="2394000" cy="1193187"/>
            </a:xfrm>
            <a:prstGeom prst="rect">
              <a:avLst/>
            </a:prstGeom>
            <a:solidFill>
              <a:srgbClr val="E4E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9FF2E3-B549-B78C-CEAB-051D82B9A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602" y="3515860"/>
              <a:ext cx="1990800" cy="10816"/>
            </a:xfrm>
            <a:prstGeom prst="line">
              <a:avLst/>
            </a:prstGeom>
            <a:ln w="28575">
              <a:solidFill>
                <a:srgbClr val="F9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428AAF-149A-5BD9-8A6C-ABE026A3BF49}"/>
                </a:ext>
              </a:extLst>
            </p:cNvPr>
            <p:cNvSpPr txBox="1"/>
            <p:nvPr/>
          </p:nvSpPr>
          <p:spPr>
            <a:xfrm>
              <a:off x="802494" y="2987884"/>
              <a:ext cx="16030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b="1" dirty="0">
                  <a:solidFill>
                    <a:srgbClr val="276283"/>
                  </a:solidFill>
                </a:rPr>
                <a:t>109.85M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D98F1D-E09C-9F89-E066-3983DAC5B289}"/>
                </a:ext>
              </a:extLst>
            </p:cNvPr>
            <p:cNvSpPr txBox="1"/>
            <p:nvPr/>
          </p:nvSpPr>
          <p:spPr>
            <a:xfrm>
              <a:off x="982787" y="3595334"/>
              <a:ext cx="1242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</a:rPr>
                <a:t>Total Sales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91411D-93D2-3473-170D-FE6B0FD55B6F}"/>
              </a:ext>
            </a:extLst>
          </p:cNvPr>
          <p:cNvGrpSpPr/>
          <p:nvPr/>
        </p:nvGrpSpPr>
        <p:grpSpPr>
          <a:xfrm>
            <a:off x="5792199" y="2929746"/>
            <a:ext cx="2394000" cy="1193187"/>
            <a:chOff x="5513266" y="2961569"/>
            <a:chExt cx="2394000" cy="119318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7852A5-0A80-3176-7EE8-AA23D8005E3C}"/>
                </a:ext>
              </a:extLst>
            </p:cNvPr>
            <p:cNvSpPr/>
            <p:nvPr/>
          </p:nvSpPr>
          <p:spPr>
            <a:xfrm>
              <a:off x="5513266" y="2961569"/>
              <a:ext cx="2394000" cy="1193187"/>
            </a:xfrm>
            <a:prstGeom prst="rect">
              <a:avLst/>
            </a:prstGeom>
            <a:solidFill>
              <a:srgbClr val="E4E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E19E2D2-D0FD-C4B6-A2BA-0206C16A04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866" y="3552754"/>
              <a:ext cx="1990800" cy="10816"/>
            </a:xfrm>
            <a:prstGeom prst="line">
              <a:avLst/>
            </a:prstGeom>
            <a:ln w="28575">
              <a:solidFill>
                <a:srgbClr val="F9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E91FD4E-E06B-4239-A7C2-AD1DD2B0E85E}"/>
                </a:ext>
              </a:extLst>
            </p:cNvPr>
            <p:cNvSpPr txBox="1"/>
            <p:nvPr/>
          </p:nvSpPr>
          <p:spPr>
            <a:xfrm>
              <a:off x="6048514" y="3024778"/>
              <a:ext cx="13235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b="1" dirty="0">
                  <a:solidFill>
                    <a:srgbClr val="276283"/>
                  </a:solidFill>
                </a:rPr>
                <a:t>31.47K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9B3F0A5-A6AB-B0B2-D123-31559C6D07E9}"/>
                </a:ext>
              </a:extLst>
            </p:cNvPr>
            <p:cNvSpPr txBox="1"/>
            <p:nvPr/>
          </p:nvSpPr>
          <p:spPr>
            <a:xfrm>
              <a:off x="6023434" y="3632228"/>
              <a:ext cx="1373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</a:rPr>
                <a:t>Total Orders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72297C1-C837-0CBA-C8FD-2E20330FD3B4}"/>
              </a:ext>
            </a:extLst>
          </p:cNvPr>
          <p:cNvGrpSpPr/>
          <p:nvPr/>
        </p:nvGrpSpPr>
        <p:grpSpPr>
          <a:xfrm>
            <a:off x="3214197" y="4582694"/>
            <a:ext cx="2392469" cy="1193187"/>
            <a:chOff x="407002" y="4529651"/>
            <a:chExt cx="2392469" cy="1193187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EA21087-658F-A1F4-3217-1F7957E49434}"/>
                </a:ext>
              </a:extLst>
            </p:cNvPr>
            <p:cNvSpPr/>
            <p:nvPr/>
          </p:nvSpPr>
          <p:spPr>
            <a:xfrm>
              <a:off x="407002" y="4529651"/>
              <a:ext cx="2392469" cy="1193187"/>
            </a:xfrm>
            <a:prstGeom prst="rect">
              <a:avLst/>
            </a:prstGeom>
            <a:solidFill>
              <a:srgbClr val="E4E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7C63A77-36A4-650E-7CCB-569BAF75EA7D}"/>
                </a:ext>
              </a:extLst>
            </p:cNvPr>
            <p:cNvCxnSpPr>
              <a:cxnSpLocks/>
            </p:cNvCxnSpPr>
            <p:nvPr/>
          </p:nvCxnSpPr>
          <p:spPr>
            <a:xfrm>
              <a:off x="607580" y="5131652"/>
              <a:ext cx="1991313" cy="0"/>
            </a:xfrm>
            <a:prstGeom prst="line">
              <a:avLst/>
            </a:prstGeom>
            <a:ln w="28575">
              <a:solidFill>
                <a:srgbClr val="F9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B719033-FF9C-40FB-80F5-A0E0B9AC955A}"/>
                </a:ext>
              </a:extLst>
            </p:cNvPr>
            <p:cNvSpPr txBox="1"/>
            <p:nvPr/>
          </p:nvSpPr>
          <p:spPr>
            <a:xfrm>
              <a:off x="878290" y="4592860"/>
              <a:ext cx="14498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b="1" dirty="0">
                  <a:solidFill>
                    <a:srgbClr val="276283"/>
                  </a:solidFill>
                </a:rPr>
                <a:t>39.07%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651AF5F-F4CE-AF61-D27D-673554AB4728}"/>
                </a:ext>
              </a:extLst>
            </p:cNvPr>
            <p:cNvSpPr txBox="1"/>
            <p:nvPr/>
          </p:nvSpPr>
          <p:spPr>
            <a:xfrm>
              <a:off x="407002" y="5200310"/>
              <a:ext cx="23924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</a:rPr>
                <a:t>Repeat Customer Rate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4A69AD-3BC0-81CF-68AC-455860FCE5B1}"/>
              </a:ext>
            </a:extLst>
          </p:cNvPr>
          <p:cNvGrpSpPr/>
          <p:nvPr/>
        </p:nvGrpSpPr>
        <p:grpSpPr>
          <a:xfrm>
            <a:off x="3193188" y="2929746"/>
            <a:ext cx="2394000" cy="1193187"/>
            <a:chOff x="3073666" y="2931324"/>
            <a:chExt cx="2394000" cy="119318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8788D55-FB9C-754B-A74D-7FAB5D3F3F9C}"/>
                </a:ext>
              </a:extLst>
            </p:cNvPr>
            <p:cNvSpPr/>
            <p:nvPr/>
          </p:nvSpPr>
          <p:spPr>
            <a:xfrm>
              <a:off x="3073666" y="2931324"/>
              <a:ext cx="2394000" cy="1193187"/>
            </a:xfrm>
            <a:prstGeom prst="rect">
              <a:avLst/>
            </a:prstGeom>
            <a:solidFill>
              <a:srgbClr val="E4E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0D3D921-BDDB-21DE-7F1A-C00F4252CA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5266" y="3522509"/>
              <a:ext cx="1990800" cy="10816"/>
            </a:xfrm>
            <a:prstGeom prst="line">
              <a:avLst/>
            </a:prstGeom>
            <a:ln w="28575">
              <a:solidFill>
                <a:srgbClr val="3C95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2D82746-02F8-A811-388D-C3DC6B186D44}"/>
                </a:ext>
              </a:extLst>
            </p:cNvPr>
            <p:cNvSpPr txBox="1"/>
            <p:nvPr/>
          </p:nvSpPr>
          <p:spPr>
            <a:xfrm>
              <a:off x="3674988" y="2994533"/>
              <a:ext cx="11913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b="1" dirty="0">
                  <a:solidFill>
                    <a:srgbClr val="276283"/>
                  </a:solidFill>
                </a:rPr>
                <a:t>8.53%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D631A09-E75A-E209-D7B6-DA892270CFE1}"/>
                </a:ext>
              </a:extLst>
            </p:cNvPr>
            <p:cNvSpPr txBox="1"/>
            <p:nvPr/>
          </p:nvSpPr>
          <p:spPr>
            <a:xfrm>
              <a:off x="3528111" y="3601983"/>
              <a:ext cx="1485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</a:rPr>
                <a:t>Profit Margin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8A785E-D4FE-21FB-461D-8471FEA971F1}"/>
              </a:ext>
            </a:extLst>
          </p:cNvPr>
          <p:cNvGrpSpPr/>
          <p:nvPr/>
        </p:nvGrpSpPr>
        <p:grpSpPr>
          <a:xfrm>
            <a:off x="5832686" y="4592860"/>
            <a:ext cx="2394000" cy="1193187"/>
            <a:chOff x="6341127" y="4733139"/>
            <a:chExt cx="2394000" cy="1193187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CBCB038-C8A2-2CE6-829D-ABD9C9D2694B}"/>
                </a:ext>
              </a:extLst>
            </p:cNvPr>
            <p:cNvSpPr/>
            <p:nvPr/>
          </p:nvSpPr>
          <p:spPr>
            <a:xfrm>
              <a:off x="6341127" y="4733139"/>
              <a:ext cx="2394000" cy="1193187"/>
            </a:xfrm>
            <a:prstGeom prst="rect">
              <a:avLst/>
            </a:prstGeom>
            <a:solidFill>
              <a:srgbClr val="E4E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000B5CC-7453-91BB-5FCB-DC2C2D6532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2727" y="5324324"/>
              <a:ext cx="1990800" cy="10816"/>
            </a:xfrm>
            <a:prstGeom prst="line">
              <a:avLst/>
            </a:prstGeom>
            <a:ln w="28575">
              <a:solidFill>
                <a:srgbClr val="3C95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846EFD8-F08E-BE46-F2FB-3C226741BF21}"/>
                </a:ext>
              </a:extLst>
            </p:cNvPr>
            <p:cNvSpPr txBox="1"/>
            <p:nvPr/>
          </p:nvSpPr>
          <p:spPr>
            <a:xfrm>
              <a:off x="6942449" y="4796348"/>
              <a:ext cx="11913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b="1" dirty="0">
                  <a:solidFill>
                    <a:srgbClr val="276283"/>
                  </a:solidFill>
                </a:rPr>
                <a:t>4.47K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E7ED007-7957-4AE0-5528-F04B01EC89AD}"/>
                </a:ext>
              </a:extLst>
            </p:cNvPr>
            <p:cNvSpPr txBox="1"/>
            <p:nvPr/>
          </p:nvSpPr>
          <p:spPr>
            <a:xfrm>
              <a:off x="6471774" y="5417665"/>
              <a:ext cx="21327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</a:rPr>
                <a:t>Average Order Value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7E452B-B9B0-C57A-26D7-92BDA783E077}"/>
              </a:ext>
            </a:extLst>
          </p:cNvPr>
          <p:cNvGrpSpPr/>
          <p:nvPr/>
        </p:nvGrpSpPr>
        <p:grpSpPr>
          <a:xfrm>
            <a:off x="594177" y="4592859"/>
            <a:ext cx="2394000" cy="1193187"/>
            <a:chOff x="3016646" y="4747006"/>
            <a:chExt cx="2394000" cy="119318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62CCBBA-9482-6A81-95C7-99519B7B9D77}"/>
                </a:ext>
              </a:extLst>
            </p:cNvPr>
            <p:cNvSpPr/>
            <p:nvPr/>
          </p:nvSpPr>
          <p:spPr>
            <a:xfrm>
              <a:off x="3016646" y="4747006"/>
              <a:ext cx="2394000" cy="1193187"/>
            </a:xfrm>
            <a:prstGeom prst="rect">
              <a:avLst/>
            </a:prstGeom>
            <a:solidFill>
              <a:srgbClr val="E4E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05AD47C-FE0B-9DCB-7A07-4A8BCDAA47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8246" y="5338191"/>
              <a:ext cx="1990800" cy="10816"/>
            </a:xfrm>
            <a:prstGeom prst="line">
              <a:avLst/>
            </a:prstGeom>
            <a:ln w="28575">
              <a:solidFill>
                <a:srgbClr val="3C95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D2C4FC-8AA9-20B7-8CA0-2E2CC09E18E4}"/>
                </a:ext>
              </a:extLst>
            </p:cNvPr>
            <p:cNvSpPr txBox="1"/>
            <p:nvPr/>
          </p:nvSpPr>
          <p:spPr>
            <a:xfrm>
              <a:off x="3692020" y="4810215"/>
              <a:ext cx="10432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b="1" dirty="0">
                  <a:solidFill>
                    <a:srgbClr val="276283"/>
                  </a:solidFill>
                </a:rPr>
                <a:t>275K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109540F-3938-B89F-DFAE-877F5EB9BB87}"/>
                </a:ext>
              </a:extLst>
            </p:cNvPr>
            <p:cNvSpPr txBox="1"/>
            <p:nvPr/>
          </p:nvSpPr>
          <p:spPr>
            <a:xfrm>
              <a:off x="3016647" y="5417665"/>
              <a:ext cx="2393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bg1"/>
                  </a:solidFill>
                </a:rPr>
                <a:t>Total Products Ordered</a:t>
              </a:r>
            </a:p>
          </p:txBody>
        </p:sp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id="{2354CD56-A884-234A-853F-9AFA5BE46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367" y="2968510"/>
            <a:ext cx="2699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Set team-specific goals for improving repeat customer rates, profit margin and AOV</a:t>
            </a:r>
            <a:endParaRPr lang="en-US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20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4B44-BB64-B6CB-6D74-93D7378E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800" dirty="0">
                <a:latin typeface="+mn-lt"/>
              </a:rPr>
              <a:t>What Actions Should We Take?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30B94C-F6EA-B2F9-4793-C7200C454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0356" y="2747682"/>
            <a:ext cx="9340080" cy="2263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b="1" dirty="0">
                <a:solidFill>
                  <a:schemeClr val="bg1"/>
                </a:solidFill>
              </a:rPr>
              <a:t>Boost repeat customers rate</a:t>
            </a:r>
            <a:r>
              <a:rPr lang="en-US" altLang="en-US" sz="1600" dirty="0">
                <a:solidFill>
                  <a:schemeClr val="bg1"/>
                </a:solidFill>
              </a:rPr>
              <a:t>: Introduce loyalty programs and post-purchase engagement strategies.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AU" sz="1600" b="1" dirty="0">
                <a:solidFill>
                  <a:schemeClr val="bg1"/>
                </a:solidFill>
              </a:rPr>
              <a:t>Focus on high-margin categories</a:t>
            </a:r>
            <a:r>
              <a:rPr lang="en-AU" sz="1600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bg1"/>
                </a:solidFill>
              </a:rPr>
              <a:t>Prioritize Accessories and optimize Bike pricing for profit improvement</a:t>
            </a:r>
            <a:endParaRPr lang="en-US" altLang="en-US" sz="1600" dirty="0">
              <a:solidFill>
                <a:schemeClr val="bg1"/>
              </a:solidFill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b="1" dirty="0">
                <a:solidFill>
                  <a:schemeClr val="bg1"/>
                </a:solidFill>
              </a:rPr>
              <a:t>Grow international markets</a:t>
            </a:r>
            <a:r>
              <a:rPr lang="en-US" altLang="en-US" sz="1600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bg1"/>
                </a:solidFill>
              </a:rPr>
              <a:t>Strengthen market-specific strategies in </a:t>
            </a:r>
            <a:r>
              <a:rPr lang="en-US" altLang="en-US" sz="1600" dirty="0">
                <a:solidFill>
                  <a:schemeClr val="bg1"/>
                </a:solidFill>
              </a:rPr>
              <a:t>Canada, Australia and Europe.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b="1" dirty="0">
                <a:solidFill>
                  <a:schemeClr val="bg1"/>
                </a:solidFill>
              </a:rPr>
              <a:t>Expand online sales</a:t>
            </a:r>
            <a:r>
              <a:rPr lang="en-US" sz="1600" dirty="0">
                <a:solidFill>
                  <a:schemeClr val="bg1"/>
                </a:solidFill>
              </a:rPr>
              <a:t>: Invest in digital marketing and e-commerce.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AU" sz="1600" b="1" dirty="0">
                <a:solidFill>
                  <a:schemeClr val="bg1"/>
                </a:solidFill>
              </a:rPr>
              <a:t>Share sales expertise</a:t>
            </a:r>
            <a:r>
              <a:rPr lang="en-AU" sz="1600" dirty="0">
                <a:solidFill>
                  <a:schemeClr val="bg1"/>
                </a:solidFill>
              </a:rPr>
              <a:t>: </a:t>
            </a:r>
            <a:r>
              <a:rPr lang="en-US" altLang="en-US" sz="1600" dirty="0">
                <a:solidFill>
                  <a:schemeClr val="bg1"/>
                </a:solidFill>
              </a:rPr>
              <a:t>Provide training to </a:t>
            </a:r>
            <a:r>
              <a:rPr lang="en-US" sz="1600" dirty="0">
                <a:solidFill>
                  <a:schemeClr val="bg1"/>
                </a:solidFill>
              </a:rPr>
              <a:t>share best practices from top sales people.</a:t>
            </a:r>
            <a:r>
              <a:rPr lang="en-US" altLang="en-US" sz="1600" dirty="0">
                <a:solidFill>
                  <a:schemeClr val="bg1"/>
                </a:solidFill>
              </a:rPr>
              <a:t> 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903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5C191-F53C-3178-A770-CDBC4E59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7B90-9E8D-5F21-2B54-005D6AD9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+mn-lt"/>
              </a:rPr>
              <a:t>What Results Can We Expect?</a:t>
            </a:r>
            <a:endParaRPr lang="en-AU" sz="28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2C788-95F0-E05D-8200-F69FFB8DA97D}"/>
              </a:ext>
            </a:extLst>
          </p:cNvPr>
          <p:cNvSpPr txBox="1"/>
          <p:nvPr/>
        </p:nvSpPr>
        <p:spPr>
          <a:xfrm>
            <a:off x="2909455" y="2784963"/>
            <a:ext cx="6096000" cy="18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Revenue target: $130M.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Profit margin: Increase to 10%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Repeat Customer Rate: Increase to 45%. 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AU" sz="1600" dirty="0">
                <a:solidFill>
                  <a:schemeClr val="bg1"/>
                </a:solidFill>
              </a:rPr>
              <a:t>Online sales: Achieve 35% revenue contribution 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Product category: </a:t>
            </a:r>
            <a:r>
              <a:rPr lang="en-AU" sz="1600" dirty="0">
                <a:solidFill>
                  <a:schemeClr val="bg1"/>
                </a:solidFill>
              </a:rPr>
              <a:t>Increase Accessories </a:t>
            </a:r>
            <a:r>
              <a:rPr lang="en-AU" sz="1600">
                <a:solidFill>
                  <a:schemeClr val="bg1"/>
                </a:solidFill>
              </a:rPr>
              <a:t>total orders </a:t>
            </a:r>
            <a:r>
              <a:rPr lang="en-AU" sz="1600" dirty="0">
                <a:solidFill>
                  <a:schemeClr val="bg1"/>
                </a:solidFill>
              </a:rPr>
              <a:t>by 20% </a:t>
            </a:r>
          </a:p>
        </p:txBody>
      </p:sp>
    </p:spTree>
    <p:extLst>
      <p:ext uri="{BB962C8B-B14F-4D97-AF65-F5344CB8AC3E}">
        <p14:creationId xmlns:p14="http://schemas.microsoft.com/office/powerpoint/2010/main" val="142040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574</Words>
  <Application>Microsoft Office PowerPoint</Application>
  <PresentationFormat>Widescreen</PresentationFormat>
  <Paragraphs>87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Franklin Gothic Book</vt:lpstr>
      <vt:lpstr>Franklin Gothic Demi</vt:lpstr>
      <vt:lpstr>Wingdings</vt:lpstr>
      <vt:lpstr>Custom</vt:lpstr>
      <vt:lpstr>Sales Performance Analysis (July 2001 – July 2004) Insights, Opportunities and Actions</vt:lpstr>
      <vt:lpstr>Objectives</vt:lpstr>
      <vt:lpstr>How Do Our Sales Vary Throughout the Year?</vt:lpstr>
      <vt:lpstr>Which Countries Are Our Key Markets?</vt:lpstr>
      <vt:lpstr>PowerPoint Presentation</vt:lpstr>
      <vt:lpstr>What Are Our Best-Selling Products?</vt:lpstr>
      <vt:lpstr>Are We Leveraging All Sales Channels Effectively?</vt:lpstr>
      <vt:lpstr>Who Drives the Most Sales?</vt:lpstr>
      <vt:lpstr>What Are Our Key Business Metrics?</vt:lpstr>
      <vt:lpstr>What Actions Should We Take?</vt:lpstr>
      <vt:lpstr>What Results Can We Expect?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2024-12-30T08:14:14Z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